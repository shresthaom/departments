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58" r:id="rId6"/>
    <p:sldId id="263" r:id="rId7"/>
    <p:sldId id="264" r:id="rId8"/>
    <p:sldId id="257" r:id="rId9"/>
    <p:sldId id="260" r:id="rId10"/>
    <p:sldId id="261" r:id="rId11"/>
    <p:sldId id="292" r:id="rId12"/>
    <p:sldId id="293" r:id="rId13"/>
    <p:sldId id="294" r:id="rId14"/>
    <p:sldId id="295" r:id="rId15"/>
    <p:sldId id="296" r:id="rId16"/>
    <p:sldId id="297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40AE6-CDC0-43EC-9234-28B723E2A4A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FE5CC-97DC-4BE2-82C8-EB6B2456DED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academia.edu/777374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1225533"/>
            <a:ext cx="9083040" cy="2795120"/>
          </a:xfrm>
        </p:spPr>
        <p:txBody>
          <a:bodyPr>
            <a:normAutofit/>
          </a:bodyPr>
          <a:lstStyle/>
          <a:p>
            <a:r>
              <a:rPr lang="en-US" sz="4000" dirty="0"/>
              <a:t>A Proposal Defense</a:t>
            </a:r>
            <a:br>
              <a:rPr lang="en-US" sz="4000" dirty="0"/>
            </a:br>
            <a:r>
              <a:rPr lang="en-US" sz="4000" dirty="0"/>
              <a:t>on</a:t>
            </a:r>
            <a:br>
              <a:rPr lang="en-US" sz="4000" dirty="0"/>
            </a:br>
            <a:r>
              <a:rPr lang="en-US" sz="4000" dirty="0"/>
              <a:t>Online Hospital Appointment Booking System</a:t>
            </a:r>
            <a:endParaRPr lang="en-US" sz="4000" dirty="0"/>
          </a:p>
        </p:txBody>
      </p:sp>
      <p:pic>
        <p:nvPicPr>
          <p:cNvPr id="4" name="Picture 3" descr="Code for Change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52"/>
          <a:stretch>
            <a:fillRect/>
          </a:stretch>
        </p:blipFill>
        <p:spPr bwMode="auto">
          <a:xfrm>
            <a:off x="4324609" y="450833"/>
            <a:ext cx="3542782" cy="10122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424539" y="4610501"/>
            <a:ext cx="3214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Amisha</a:t>
            </a:r>
            <a:r>
              <a:rPr lang="en-US" dirty="0"/>
              <a:t> Bhattarai </a:t>
            </a:r>
            <a:r>
              <a:rPr lang="en-US" dirty="0" err="1"/>
              <a:t>Chhettri</a:t>
            </a:r>
            <a:endParaRPr lang="en-US" dirty="0"/>
          </a:p>
          <a:p>
            <a:r>
              <a:rPr lang="en-US" dirty="0" err="1"/>
              <a:t>Bigyan</a:t>
            </a:r>
            <a:r>
              <a:rPr lang="en-US" dirty="0"/>
              <a:t> </a:t>
            </a:r>
            <a:r>
              <a:rPr lang="en-US" dirty="0" err="1"/>
              <a:t>Paudyal</a:t>
            </a:r>
            <a:endParaRPr lang="en-US" dirty="0"/>
          </a:p>
          <a:p>
            <a:r>
              <a:rPr lang="en-US" dirty="0"/>
              <a:t>Om Prakash Shrestha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47772" y="4795353"/>
            <a:ext cx="3214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By:</a:t>
            </a:r>
            <a:endParaRPr lang="en-US" dirty="0"/>
          </a:p>
          <a:p>
            <a:endParaRPr lang="en-US" dirty="0"/>
          </a:p>
          <a:p>
            <a:r>
              <a:rPr lang="en-US" dirty="0"/>
              <a:t>Dhiraj K. Jha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Web-based system for hospital appointment management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patient registration, login, and appointment booking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doctor search by specialization and availability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patient, doctor, and administrator modules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hospital workflow efficiency and service delivery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using secure, scalable web technologies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database-driven architecture for reliable data management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Many hospitals rely on manual appointment processes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Manual systems cause long queues and mismanagement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Existing online systems focus on basic booking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Most systems assume literate and tech-savvy users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Semiliterate users face language and navigation difficulties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Limited support for medical history and reporting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Clear gap for accessible, scalable digital solution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(Existing Systems)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Studies address inefficiencies of manual hospital appointments [1][4]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Web-based systems improve scheduling efficiency and reduce waiting [1][5]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Patients can register, view doctors, and book appointments [1][4]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Doctors manage schedules and patient information digitally [4][5]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Administrators handle users, appointments, and reporting tasks [1][5]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Technologies include Angular, PHP, Python, Spring Boot, MySQL [1][4][5]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OOAD and UML widely used for system design [1][4]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(Findings &amp; Gaps)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systems significantly reduce queues and paperwork [1][3][5]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Appointment efficiency improved during high patient inflow [3][5]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systems show increased adoption and reduced waiting [3]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systems focus on functional efficiency, not inclusivity [2][4]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Semiliterate users face usability and navigation challenges [2]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emphasis on accessibility and user-centered interfaces [2][5]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Gap exists for inclusive, adaptable appointment management system [2][5]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able to design and develop a web-based system that allows patients to register, log in, search doctors by specialization, and book or cancel appointments in real time.</a:t>
            </a:r>
            <a:endParaRPr lang="en-US" dirty="0"/>
          </a:p>
          <a:p>
            <a:r>
              <a:rPr lang="en-US" dirty="0"/>
              <a:t>To be able to implement a secure backend with role-based access for patients, doctors, and administrators to ensure proper login, access control, and data safety.</a:t>
            </a:r>
            <a:endParaRPr lang="en-US" dirty="0"/>
          </a:p>
          <a:p>
            <a:r>
              <a:rPr lang="en-US" dirty="0"/>
              <a:t>To be able to store, retrieve, and manage patient, doctor, and appointment records, and generate basic reports such as daily appointments and doctor availability.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Process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Project follows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Agile software development methodology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Scrum framework applied within Agile approach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Development divided into </a:t>
            </a:r>
            <a:r>
              <a:rPr lang="en-US" b="1" dirty="0">
                <a:effectLst/>
                <a:latin typeface="+mj-lt"/>
                <a:ea typeface="Times New Roman" panose="02020603050405020304" pitchFamily="18" charset="0"/>
              </a:rPr>
              <a:t>short, iterative sprints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Continuous feedback incorporated after each sprint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Incremental feature development and testing approach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Allows requirement changes during development phases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/>
            <a:r>
              <a:rPr lang="en-US" dirty="0">
                <a:effectLst/>
                <a:latin typeface="+mj-lt"/>
                <a:ea typeface="Times New Roman" panose="02020603050405020304" pitchFamily="18" charset="0"/>
              </a:rPr>
              <a:t>Improves collaboration, flexibility, and delivery quality</a:t>
            </a:r>
            <a:endParaRPr lang="en-US" dirty="0">
              <a:effectLst/>
              <a:latin typeface="+mj-lt"/>
              <a:ea typeface="Times New Roman" panose="02020603050405020304" pitchFamily="18" charset="0"/>
            </a:endParaRP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33" y="507782"/>
            <a:ext cx="11159731" cy="4709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8500" y="5544152"/>
            <a:ext cx="449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Figure: Scrum Framework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  <a:endParaRPr lang="en-US" dirty="0"/>
          </a:p>
        </p:txBody>
      </p:sp>
      <p:pic>
        <p:nvPicPr>
          <p:cNvPr id="1026" name="Picture 2" descr="No description available.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8" y="2714325"/>
            <a:ext cx="11418882" cy="240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806" y="1494002"/>
            <a:ext cx="7430701" cy="527737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(Core Entities)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765" y="1460405"/>
            <a:ext cx="7874469" cy="4947381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(Advanced Features)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56" y="1306061"/>
            <a:ext cx="9144000" cy="5551939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Flow Diagram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707" y="1330601"/>
            <a:ext cx="5021222" cy="5527399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Doctor Recommendation Is Needed?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GB" dirty="0"/>
              <a:t>Many patients </a:t>
            </a:r>
            <a:r>
              <a:rPr lang="en-GB" b="1" dirty="0"/>
              <a:t>do not know specific doctors</a:t>
            </a:r>
            <a:endParaRPr lang="en-GB" b="1" dirty="0"/>
          </a:p>
          <a:p>
            <a:r>
              <a:rPr lang="en-GB" dirty="0"/>
              <a:t>Patients often know only: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--Symptoms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--Required department</a:t>
            </a:r>
            <a:endParaRPr lang="en-GB" dirty="0"/>
          </a:p>
          <a:p>
            <a:r>
              <a:rPr lang="en-AU" dirty="0"/>
              <a:t>Manual searching is: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    --Time Consuming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    --Confusing for first time users</a:t>
            </a:r>
            <a:endParaRPr lang="en-AU" dirty="0"/>
          </a:p>
          <a:p>
            <a:r>
              <a:rPr lang="en-GB" dirty="0"/>
              <a:t>Intelligent recommendation mechanism is required to </a:t>
            </a:r>
            <a:r>
              <a:rPr lang="en-GB" b="1" dirty="0"/>
              <a:t>guide patients</a:t>
            </a:r>
            <a:r>
              <a:rPr lang="en-GB" dirty="0"/>
              <a:t>.</a:t>
            </a:r>
            <a:endParaRPr lang="en-AU" dirty="0"/>
          </a:p>
          <a:p>
            <a:endParaRPr lang="en-GB" dirty="0"/>
          </a:p>
          <a:p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Content-Based Ranking (Algorithm)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2123"/>
          </a:xfrm>
        </p:spPr>
        <p:txBody>
          <a:bodyPr/>
          <a:lstStyle/>
          <a:p>
            <a:r>
              <a:rPr lang="en-GB" dirty="0"/>
              <a:t>Recommend/prioritize items by comparing their attributes</a:t>
            </a:r>
            <a:endParaRPr lang="en-GB" dirty="0"/>
          </a:p>
          <a:p>
            <a:r>
              <a:rPr lang="en-GB" dirty="0"/>
              <a:t>Each doctor is evaluated based on profile attributes</a:t>
            </a:r>
            <a:endParaRPr lang="en-GB" dirty="0"/>
          </a:p>
          <a:p>
            <a:r>
              <a:rPr lang="pt-BR" dirty="0"/>
              <a:t>System calculates a relevance score</a:t>
            </a:r>
            <a:endParaRPr lang="en-GB" dirty="0"/>
          </a:p>
          <a:p>
            <a:r>
              <a:rPr lang="en-GB" dirty="0"/>
              <a:t>Doctors are sorted by highest score</a:t>
            </a:r>
            <a:endParaRPr lang="en-GB" dirty="0"/>
          </a:p>
          <a:p>
            <a:r>
              <a:rPr lang="en-AU" dirty="0"/>
              <a:t>Factors: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    </a:t>
            </a:r>
            <a:r>
              <a:rPr lang="en-AU" sz="2000" dirty="0"/>
              <a:t>-Specialization match</a:t>
            </a:r>
            <a:endParaRPr lang="en-AU" sz="2000" dirty="0"/>
          </a:p>
          <a:p>
            <a:pPr marL="0" indent="0">
              <a:buNone/>
            </a:pPr>
            <a:r>
              <a:rPr lang="en-AU" sz="2000" dirty="0"/>
              <a:t>       - Experience</a:t>
            </a:r>
            <a:endParaRPr lang="en-AU" sz="2000" dirty="0"/>
          </a:p>
          <a:p>
            <a:pPr marL="0" indent="0">
              <a:buNone/>
            </a:pPr>
            <a:r>
              <a:rPr lang="en-AU" sz="2000" dirty="0"/>
              <a:t>        -Availability</a:t>
            </a:r>
            <a:endParaRPr lang="en-AU" sz="2000" dirty="0"/>
          </a:p>
          <a:p>
            <a:pPr marL="0" indent="0">
              <a:buNone/>
            </a:pPr>
            <a:r>
              <a:rPr lang="en-AU" sz="2000" dirty="0"/>
              <a:t>        -Hospital location</a:t>
            </a:r>
            <a:endParaRPr lang="en-AU" sz="2000" dirty="0"/>
          </a:p>
          <a:p>
            <a:endParaRPr lang="en-GB" dirty="0"/>
          </a:p>
          <a:p>
            <a:pPr marL="0" indent="0">
              <a:buNone/>
            </a:pPr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Processing ( Input-Processing-Output)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Input – Data Entering the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28218"/>
          </a:xfrm>
        </p:spPr>
        <p:txBody>
          <a:bodyPr/>
          <a:lstStyle/>
          <a:p>
            <a:r>
              <a:rPr lang="en-GB" dirty="0"/>
              <a:t>Patient Inputs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6" name="TextBox 45"/>
          <p:cNvSpPr txBox="1"/>
          <p:nvPr/>
        </p:nvSpPr>
        <p:spPr>
          <a:xfrm>
            <a:off x="2065561" y="2302327"/>
            <a:ext cx="4776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-Registration &amp; login details</a:t>
            </a:r>
            <a:endParaRPr lang="en-GB" sz="2400" dirty="0"/>
          </a:p>
          <a:p>
            <a:r>
              <a:rPr lang="en-GB" sz="2400" dirty="0"/>
              <a:t>-Doctor/hospital details</a:t>
            </a:r>
            <a:endParaRPr lang="en-GB" sz="2400" dirty="0"/>
          </a:p>
          <a:p>
            <a:r>
              <a:rPr lang="en-GB" sz="2400" dirty="0"/>
              <a:t>-Disease / Symptoms</a:t>
            </a:r>
            <a:endParaRPr lang="en-GB" sz="2400" dirty="0"/>
          </a:p>
          <a:p>
            <a:r>
              <a:rPr lang="en-GB" sz="2400" dirty="0"/>
              <a:t>-Preferred date &amp; time</a:t>
            </a:r>
            <a:endParaRPr lang="en-GB" sz="2400" dirty="0"/>
          </a:p>
          <a:p>
            <a:r>
              <a:rPr lang="en-GB" sz="2400" dirty="0"/>
              <a:t>-Appointment request</a:t>
            </a:r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Input – Data Entering the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 Inputs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943101" y="2416628"/>
            <a:ext cx="53400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-Login details</a:t>
            </a:r>
            <a:endParaRPr lang="en-GB" sz="2400" dirty="0"/>
          </a:p>
          <a:p>
            <a:r>
              <a:rPr lang="en-GB" sz="2400" dirty="0"/>
              <a:t>-Availability Schedule</a:t>
            </a:r>
            <a:endParaRPr lang="en-GB" sz="2400" dirty="0"/>
          </a:p>
          <a:p>
            <a:r>
              <a:rPr lang="en-GB" sz="2400" dirty="0"/>
              <a:t>-Appointment approval / rejection</a:t>
            </a:r>
            <a:endParaRPr lang="en-GB" sz="2400" dirty="0"/>
          </a:p>
          <a:p>
            <a:r>
              <a:rPr lang="en-GB" sz="2400" dirty="0"/>
              <a:t>-Prescription</a:t>
            </a:r>
            <a:endParaRPr lang="en-GB" sz="2400" dirty="0"/>
          </a:p>
          <a:p>
            <a:r>
              <a:rPr lang="en-GB" sz="2400" dirty="0"/>
              <a:t>-Medical remarks </a:t>
            </a:r>
            <a:endParaRPr lang="en-GB" sz="24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Input – Data Entering the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Admin inputs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860883" y="2348162"/>
            <a:ext cx="8614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-Hospital details</a:t>
            </a:r>
            <a:endParaRPr lang="en-GB" sz="2400" dirty="0"/>
          </a:p>
          <a:p>
            <a:r>
              <a:rPr lang="en-GB" sz="2400" dirty="0"/>
              <a:t>-Doctor details &amp; assignment </a:t>
            </a:r>
            <a:endParaRPr lang="en-GB" sz="2400" dirty="0"/>
          </a:p>
          <a:p>
            <a:r>
              <a:rPr lang="en-GB" sz="2400" dirty="0"/>
              <a:t>-System management actions (adding, updating or removing)</a:t>
            </a:r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 (what the system does with the data)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77923"/>
            <a:ext cx="10515600" cy="4351338"/>
          </a:xfrm>
        </p:spPr>
        <p:txBody>
          <a:bodyPr/>
          <a:lstStyle/>
          <a:p>
            <a:r>
              <a:rPr lang="en-AU" dirty="0"/>
              <a:t>Authentication &amp; Authorization Processing</a:t>
            </a:r>
            <a:endParaRPr lang="en-AU" dirty="0"/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021304" y="2835443"/>
            <a:ext cx="502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</a:t>
            </a:r>
            <a:r>
              <a:rPr lang="en-AU" sz="2400" dirty="0"/>
              <a:t>Validates user credentials</a:t>
            </a:r>
            <a:endParaRPr lang="en-AU" sz="2400" dirty="0"/>
          </a:p>
          <a:p>
            <a:r>
              <a:rPr lang="en-AU" sz="2400" dirty="0"/>
              <a:t>-Identifies user role</a:t>
            </a:r>
            <a:endParaRPr lang="en-AU" sz="2400" dirty="0"/>
          </a:p>
          <a:p>
            <a:r>
              <a:rPr lang="en-AU" sz="2400" dirty="0"/>
              <a:t>-Manages session securely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 Ranking (Content-Based Processing)</a:t>
            </a:r>
            <a:endParaRPr lang="en-GB" dirty="0"/>
          </a:p>
          <a:p>
            <a:r>
              <a:rPr lang="en-GB" dirty="0"/>
              <a:t>Each doctor is assigned a recommendation score based on:</a:t>
            </a: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772652" y="2847132"/>
            <a:ext cx="39222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</a:t>
            </a:r>
            <a:r>
              <a:rPr lang="en-AU" sz="2400" dirty="0"/>
              <a:t>Specialization match</a:t>
            </a:r>
            <a:endParaRPr lang="en-AU" sz="2400" dirty="0"/>
          </a:p>
          <a:p>
            <a:r>
              <a:rPr lang="en-AU" sz="2400" dirty="0"/>
              <a:t>-Years of experience</a:t>
            </a:r>
            <a:endParaRPr lang="en-AU" sz="2400" dirty="0"/>
          </a:p>
          <a:p>
            <a:r>
              <a:rPr lang="en-AU" sz="2400" dirty="0"/>
              <a:t>-Patient ratings</a:t>
            </a:r>
            <a:endParaRPr lang="en-AU" sz="2400" dirty="0"/>
          </a:p>
          <a:p>
            <a:r>
              <a:rPr lang="en-AU" sz="2400" dirty="0"/>
              <a:t>-Availability of time slots</a:t>
            </a:r>
            <a:endParaRPr lang="en-GB" sz="2400" dirty="0"/>
          </a:p>
          <a:p>
            <a:endParaRPr lang="en-GB" sz="2400" dirty="0"/>
          </a:p>
          <a:p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Appointment Processing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117556" y="2638926"/>
            <a:ext cx="57430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-Checks doctor availability</a:t>
            </a:r>
            <a:endParaRPr lang="en-AU" sz="2400" dirty="0"/>
          </a:p>
          <a:p>
            <a:r>
              <a:rPr lang="en-AU" sz="2400" dirty="0"/>
              <a:t>-Prevents double booking</a:t>
            </a:r>
            <a:endParaRPr lang="en-AU" sz="2400" dirty="0"/>
          </a:p>
          <a:p>
            <a:r>
              <a:rPr lang="en-AU" sz="2400" dirty="0"/>
              <a:t>-Stores appointment request</a:t>
            </a:r>
            <a:endParaRPr lang="en-AU" sz="2400" dirty="0"/>
          </a:p>
          <a:p>
            <a:r>
              <a:rPr lang="en-AU" sz="2400" dirty="0"/>
              <a:t>-Set initial appointment status as Pending</a:t>
            </a:r>
            <a:endParaRPr lang="en-AU" sz="2400" dirty="0"/>
          </a:p>
          <a:p>
            <a:r>
              <a:rPr lang="en-AU" sz="2400" dirty="0"/>
              <a:t>-Sends notification to doctor</a:t>
            </a:r>
            <a:endParaRPr lang="en-AU" sz="2400" dirty="0"/>
          </a:p>
          <a:p>
            <a:pPr marL="285750" indent="-285750">
              <a:buFontTx/>
              <a:buChar char="-"/>
            </a:pPr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Doctor Decision Processing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979194" y="2551382"/>
            <a:ext cx="75337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-Doctor approves or rejects appointment</a:t>
            </a:r>
            <a:endParaRPr lang="en-GB" sz="2400" dirty="0"/>
          </a:p>
          <a:p>
            <a:r>
              <a:rPr lang="en-GB" sz="2400" dirty="0"/>
              <a:t>-S</a:t>
            </a:r>
            <a:r>
              <a:rPr lang="en-AU" sz="2400" dirty="0" err="1"/>
              <a:t>ystem</a:t>
            </a:r>
            <a:r>
              <a:rPr lang="en-AU" sz="2400" dirty="0"/>
              <a:t> updates appointment status: Approved / Rejected</a:t>
            </a:r>
            <a:endParaRPr lang="en-AU" sz="2400" dirty="0"/>
          </a:p>
          <a:p>
            <a:endParaRPr lang="en-GB" sz="2400" dirty="0"/>
          </a:p>
          <a:p>
            <a:pPr marL="285750" indent="-285750">
              <a:buFontTx/>
              <a:buChar char="-"/>
            </a:pPr>
            <a:endParaRPr lang="en-GB" sz="2400" dirty="0"/>
          </a:p>
          <a:p>
            <a:pPr marL="285750" indent="-285750">
              <a:buFontTx/>
              <a:buChar char="-"/>
            </a:pPr>
            <a:endParaRPr lang="en-GB" sz="2400" dirty="0"/>
          </a:p>
          <a:p>
            <a:pPr marL="285750" indent="-285750">
              <a:buFontTx/>
              <a:buChar char="-"/>
            </a:pPr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(What the System Produces)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Patient Outputs</a:t>
            </a:r>
            <a:endParaRPr lang="en-AU" dirty="0"/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109536" y="2542671"/>
            <a:ext cx="67617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-Recommended doctors list (if doctor unknown)</a:t>
            </a:r>
            <a:endParaRPr lang="en-GB" sz="2400" dirty="0"/>
          </a:p>
          <a:p>
            <a:r>
              <a:rPr lang="en-AU" sz="2400" dirty="0"/>
              <a:t>-Available appointment slots</a:t>
            </a:r>
            <a:endParaRPr lang="en-AU" sz="2400" dirty="0"/>
          </a:p>
          <a:p>
            <a:r>
              <a:rPr lang="en-AU" sz="2400" dirty="0"/>
              <a:t>-Appointment confirmation &amp; status update </a:t>
            </a:r>
            <a:endParaRPr lang="en-AU" sz="2400" dirty="0"/>
          </a:p>
          <a:p>
            <a:r>
              <a:rPr lang="en-AU" sz="2400" dirty="0"/>
              <a:t>-Medical reports and prescriptions</a:t>
            </a:r>
            <a:endParaRPr lang="en-AU" sz="2400" dirty="0"/>
          </a:p>
          <a:p>
            <a:r>
              <a:rPr lang="en-AU" sz="2400" dirty="0"/>
              <a:t>- Appointment history</a:t>
            </a:r>
            <a:endParaRPr lang="en-AU" sz="2400" dirty="0"/>
          </a:p>
          <a:p>
            <a:endParaRPr lang="en-AU" sz="2400" dirty="0"/>
          </a:p>
          <a:p>
            <a:pPr marL="285750" indent="-285750">
              <a:buFontTx/>
              <a:buChar char="-"/>
            </a:pPr>
            <a:endParaRPr lang="en-GB" sz="2400" dirty="0"/>
          </a:p>
          <a:p>
            <a:pPr marL="285750" indent="-285750">
              <a:buFontTx/>
              <a:buChar char="-"/>
            </a:pPr>
            <a:endParaRPr lang="en-GB" sz="2400" dirty="0"/>
          </a:p>
          <a:p>
            <a:pPr marL="285750" indent="-285750">
              <a:buFontTx/>
              <a:buChar char="-"/>
            </a:pPr>
            <a:endParaRPr lang="en-GB" sz="2400" dirty="0"/>
          </a:p>
          <a:p>
            <a:pPr marL="285750" indent="-285750">
              <a:buFontTx/>
              <a:buChar char="-"/>
            </a:pPr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Doctor Outputs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61409" y="2638925"/>
            <a:ext cx="46602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-Daily appointment schedule</a:t>
            </a:r>
            <a:endParaRPr lang="en-AU" sz="2400" dirty="0"/>
          </a:p>
          <a:p>
            <a:r>
              <a:rPr lang="en-GB" sz="2400" dirty="0"/>
              <a:t>-Patient details and medical history</a:t>
            </a:r>
            <a:endParaRPr lang="en-AU" sz="2400" dirty="0"/>
          </a:p>
          <a:p>
            <a:r>
              <a:rPr lang="en-AU" sz="2400" dirty="0"/>
              <a:t>-Appointment requests list</a:t>
            </a:r>
            <a:endParaRPr lang="en-AU" sz="2400" dirty="0"/>
          </a:p>
          <a:p>
            <a:r>
              <a:rPr lang="en-AU" sz="2400" dirty="0"/>
              <a:t>-Consultation records summary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Admin 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8905" y="2606842"/>
            <a:ext cx="37779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-Hospital and doctor records</a:t>
            </a:r>
            <a:endParaRPr lang="en-GB" sz="2400" dirty="0"/>
          </a:p>
          <a:p>
            <a:r>
              <a:rPr lang="en-GB" sz="2400" dirty="0"/>
              <a:t>-Appointment statistics</a:t>
            </a:r>
            <a:endParaRPr lang="en-GB" sz="2400" dirty="0"/>
          </a:p>
          <a:p>
            <a:r>
              <a:rPr lang="en-GB" sz="2400" dirty="0"/>
              <a:t>-System activity reports</a:t>
            </a:r>
            <a:endParaRPr lang="en-AU" sz="2400" dirty="0"/>
          </a:p>
          <a:p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Final Outcome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45" y="875030"/>
            <a:ext cx="8093710" cy="484441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099" y="462523"/>
            <a:ext cx="8064666" cy="571415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390" y="239619"/>
            <a:ext cx="7295586" cy="601358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352" y="345595"/>
            <a:ext cx="8905858" cy="584005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Testing Methodology Overview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Verify correctness of appointment workflow</a:t>
            </a:r>
            <a:endParaRPr lang="en-GB" dirty="0"/>
          </a:p>
          <a:p>
            <a:r>
              <a:rPr lang="en-AU" dirty="0"/>
              <a:t>Validate doctor recommendation logic</a:t>
            </a:r>
            <a:endParaRPr lang="en-GB" dirty="0"/>
          </a:p>
          <a:p>
            <a:r>
              <a:rPr lang="en-GB" dirty="0"/>
              <a:t>Ensure system reliability for all user roles</a:t>
            </a:r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Approach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Unit Testing</a:t>
            </a:r>
            <a:endParaRPr lang="en-GB" dirty="0"/>
          </a:p>
          <a:p>
            <a:r>
              <a:rPr lang="en-GB" dirty="0"/>
              <a:t>Integration Testing</a:t>
            </a:r>
            <a:endParaRPr lang="en-GB" dirty="0"/>
          </a:p>
          <a:p>
            <a:r>
              <a:rPr lang="en-GB" dirty="0"/>
              <a:t>System Testing</a:t>
            </a:r>
            <a:endParaRPr lang="en-GB" dirty="0"/>
          </a:p>
          <a:p>
            <a:r>
              <a:rPr lang="en-GB" dirty="0"/>
              <a:t>User Acceptance Testing</a:t>
            </a:r>
            <a:endParaRPr lang="en-GB" dirty="0"/>
          </a:p>
        </p:txBody>
      </p:sp>
    </p:spTree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Testing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 individual system modules independently</a:t>
            </a:r>
            <a:endParaRPr lang="en-GB" dirty="0"/>
          </a:p>
          <a:p>
            <a:r>
              <a:rPr lang="en-GB" dirty="0"/>
              <a:t>Ensure each component works correctly in isolation</a:t>
            </a:r>
            <a:endParaRPr lang="en-AU" dirty="0"/>
          </a:p>
          <a:p>
            <a:r>
              <a:rPr lang="en-GB" dirty="0"/>
              <a:t>Modules to test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900989" y="3429000"/>
            <a:ext cx="50452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-User registration &amp; Login</a:t>
            </a:r>
            <a:endParaRPr lang="en-GB" sz="2400" dirty="0"/>
          </a:p>
          <a:p>
            <a:r>
              <a:rPr lang="en-GB" sz="2400" dirty="0"/>
              <a:t>-Contest-Based Doctor Ranking</a:t>
            </a:r>
            <a:endParaRPr lang="en-GB" sz="2400" dirty="0"/>
          </a:p>
          <a:p>
            <a:r>
              <a:rPr lang="en-GB" sz="2400" dirty="0"/>
              <a:t>-Appointment Booking Module</a:t>
            </a:r>
            <a:endParaRPr lang="en-GB" sz="2400" dirty="0"/>
          </a:p>
          <a:p>
            <a:r>
              <a:rPr lang="en-GB" sz="2400" dirty="0"/>
              <a:t>-Appointment Approval / Rejection</a:t>
            </a:r>
            <a:endParaRPr lang="en-GB" sz="2400" dirty="0"/>
          </a:p>
          <a:p>
            <a:r>
              <a:rPr lang="en-GB" sz="2400" dirty="0"/>
              <a:t>-Medical Report Upload &amp; View</a:t>
            </a:r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Testing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Smooth interaction between modules</a:t>
            </a:r>
            <a:endParaRPr lang="en-GB" dirty="0"/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Booking → Approval → Notification</a:t>
            </a:r>
            <a:endParaRPr lang="en-AU" dirty="0"/>
          </a:p>
          <a:p>
            <a:r>
              <a:rPr lang="en-AU" dirty="0"/>
              <a:t>Report upload → Patient access</a:t>
            </a:r>
            <a:endParaRPr lang="en-AU" dirty="0"/>
          </a:p>
          <a:p>
            <a:r>
              <a:rPr lang="en-AU" dirty="0"/>
              <a:t>Department → Doctor Ranking</a:t>
            </a:r>
            <a:endParaRPr lang="en-AU" dirty="0"/>
          </a:p>
          <a:p>
            <a:endParaRPr lang="en-AU" dirty="0"/>
          </a:p>
        </p:txBody>
      </p:sp>
    </p:spTree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Testing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Validate the complete system functionality</a:t>
            </a:r>
            <a:endParaRPr lang="en-GB" dirty="0"/>
          </a:p>
          <a:p>
            <a:r>
              <a:rPr lang="en-GB" dirty="0"/>
              <a:t>Ensure all modules work together in real-life scenarios</a:t>
            </a:r>
            <a:endParaRPr lang="en-AU" dirty="0"/>
          </a:p>
          <a:p>
            <a:endParaRPr lang="en-GB" dirty="0"/>
          </a:p>
        </p:txBody>
      </p:sp>
    </p:spTree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Acceptance Testing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End users test the system to see if it works for them</a:t>
            </a:r>
            <a:endParaRPr lang="en-GB" b="1" dirty="0"/>
          </a:p>
          <a:p>
            <a:r>
              <a:rPr lang="en-GB" dirty="0"/>
              <a:t>Validate system usability and ease of use</a:t>
            </a:r>
            <a:endParaRPr lang="en-GB" b="1" dirty="0"/>
          </a:p>
          <a:p>
            <a:r>
              <a:rPr lang="en-GB" dirty="0"/>
              <a:t>Identify issues from a real user’s perspective</a:t>
            </a:r>
            <a:endParaRPr lang="en-AU" b="1" dirty="0"/>
          </a:p>
          <a:p>
            <a:r>
              <a:rPr lang="en-GB" b="1" dirty="0"/>
              <a:t>Users Involved in UAT</a:t>
            </a:r>
            <a:endParaRPr lang="en-GB" b="1" dirty="0"/>
          </a:p>
          <a:p>
            <a:endParaRPr lang="en-GB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07958" y="3890210"/>
            <a:ext cx="2951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-Patients</a:t>
            </a:r>
            <a:endParaRPr lang="en-GB" sz="2400" dirty="0"/>
          </a:p>
          <a:p>
            <a:r>
              <a:rPr lang="en-GB" sz="2400" dirty="0"/>
              <a:t>-Doctors</a:t>
            </a:r>
            <a:endParaRPr lang="en-AU" sz="2400" dirty="0"/>
          </a:p>
        </p:txBody>
      </p:sp>
    </p:spTree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396" y="1690688"/>
            <a:ext cx="10593404" cy="4486275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[1]</a:t>
            </a:r>
            <a:br>
              <a:rPr lang="en-US" dirty="0"/>
            </a:br>
            <a:r>
              <a:rPr lang="en-US" dirty="0" err="1"/>
              <a:t>Perera</a:t>
            </a:r>
            <a:r>
              <a:rPr lang="en-US" dirty="0"/>
              <a:t>, S., </a:t>
            </a:r>
            <a:r>
              <a:rPr lang="en-US" i="1" dirty="0"/>
              <a:t>et al.</a:t>
            </a:r>
            <a:br>
              <a:rPr lang="en-US" dirty="0"/>
            </a:br>
            <a:r>
              <a:rPr lang="en-US" b="1" dirty="0"/>
              <a:t>“Online Appointment System for Kotelawala </a:t>
            </a:r>
            <a:r>
              <a:rPr lang="en-US" b="1" dirty="0" err="1"/>
              <a:t>Defence</a:t>
            </a:r>
            <a:r>
              <a:rPr lang="en-US" b="1" dirty="0"/>
              <a:t> University Hospital.”</a:t>
            </a:r>
            <a:br>
              <a:rPr lang="en-US" dirty="0"/>
            </a:br>
            <a:r>
              <a:rPr lang="en-US" dirty="0"/>
              <a:t>University of Colombo School of Computing, Sri Lanka.</a:t>
            </a:r>
            <a:br>
              <a:rPr lang="en-US" dirty="0"/>
            </a:br>
            <a:r>
              <a:rPr lang="en-US" dirty="0"/>
              <a:t>Available: UCSC Digital Repository.</a:t>
            </a:r>
            <a:endParaRPr lang="en-US" dirty="0"/>
          </a:p>
          <a:p>
            <a:r>
              <a:rPr lang="en-US" b="1" dirty="0"/>
              <a:t>[2]</a:t>
            </a:r>
            <a:br>
              <a:rPr lang="en-US" dirty="0"/>
            </a:br>
            <a:r>
              <a:rPr lang="en-US" dirty="0"/>
              <a:t>Ahmed, R., </a:t>
            </a:r>
            <a:r>
              <a:rPr lang="en-US" i="1" dirty="0"/>
              <a:t>et al.</a:t>
            </a:r>
            <a:br>
              <a:rPr lang="en-US" dirty="0"/>
            </a:br>
            <a:r>
              <a:rPr lang="en-US" b="1" dirty="0"/>
              <a:t>“Designing an Online Appointment System for Semiliterate Users.”</a:t>
            </a:r>
            <a:br>
              <a:rPr lang="en-US" dirty="0"/>
            </a:br>
            <a:r>
              <a:rPr lang="en-US" dirty="0"/>
              <a:t>Academia.edu, 2021.</a:t>
            </a:r>
            <a:br>
              <a:rPr lang="en-US" dirty="0"/>
            </a:br>
            <a:r>
              <a:rPr lang="en-US" dirty="0"/>
              <a:t>Available: </a:t>
            </a:r>
            <a:r>
              <a:rPr lang="en-US" dirty="0">
                <a:hlinkClick r:id="rId1"/>
              </a:rPr>
              <a:t>https://www.academia.edu/77737445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[3]</a:t>
            </a:r>
            <a:br>
              <a:rPr lang="en-US" dirty="0"/>
            </a:br>
            <a:r>
              <a:rPr lang="en-US" dirty="0" err="1"/>
              <a:t>Atun</a:t>
            </a:r>
            <a:r>
              <a:rPr lang="en-US" dirty="0"/>
              <a:t>, R., </a:t>
            </a:r>
            <a:r>
              <a:rPr lang="en-US" i="1" dirty="0"/>
              <a:t>et al.</a:t>
            </a:r>
            <a:br>
              <a:rPr lang="en-US" dirty="0"/>
            </a:br>
            <a:r>
              <a:rPr lang="en-US" b="1" dirty="0"/>
              <a:t>“Evaluating Hospital Appointment Systems in Turkey: Challenges and Opportunities.”</a:t>
            </a:r>
            <a:br>
              <a:rPr lang="en-US" dirty="0"/>
            </a:br>
            <a:r>
              <a:rPr lang="en-US" i="1" dirty="0"/>
              <a:t>Journal of Innovation &amp; Knowledge</a:t>
            </a:r>
            <a:r>
              <a:rPr lang="en-US" dirty="0"/>
              <a:t>, Elsevier, 2020.</a:t>
            </a:r>
            <a:br>
              <a:rPr lang="en-US" dirty="0"/>
            </a:br>
            <a:r>
              <a:rPr lang="en-US" dirty="0"/>
              <a:t>Available: ScienceDirect.</a:t>
            </a:r>
            <a:endParaRPr lang="en-US" dirty="0"/>
          </a:p>
          <a:p>
            <a:r>
              <a:rPr lang="en-US" b="1" dirty="0"/>
              <a:t>[4]</a:t>
            </a:r>
            <a:br>
              <a:rPr lang="en-US" dirty="0"/>
            </a:br>
            <a:r>
              <a:rPr lang="en-US" dirty="0"/>
              <a:t>Patel, A., </a:t>
            </a:r>
            <a:r>
              <a:rPr lang="en-US" i="1" dirty="0"/>
              <a:t>et al.</a:t>
            </a:r>
            <a:br>
              <a:rPr lang="en-US" dirty="0"/>
            </a:br>
            <a:r>
              <a:rPr lang="en-US" b="1" dirty="0"/>
              <a:t>“Online Doctor Appointment Booking System.”</a:t>
            </a:r>
            <a:br>
              <a:rPr lang="en-US" dirty="0"/>
            </a:br>
            <a:r>
              <a:rPr lang="en-US" dirty="0"/>
              <a:t>International Journal of Computer Applications, 2021.</a:t>
            </a:r>
            <a:br>
              <a:rPr lang="en-US" dirty="0"/>
            </a:br>
            <a:r>
              <a:rPr lang="en-US" dirty="0"/>
              <a:t>Web-based healthcare system study.</a:t>
            </a:r>
            <a:endParaRPr lang="en-US" dirty="0"/>
          </a:p>
          <a:p>
            <a:r>
              <a:rPr lang="en-US" b="1" dirty="0"/>
              <a:t>[5]</a:t>
            </a:r>
            <a:br>
              <a:rPr lang="en-US" dirty="0"/>
            </a:br>
            <a:r>
              <a:rPr lang="en-US" dirty="0"/>
              <a:t>Fernando, N., </a:t>
            </a:r>
            <a:r>
              <a:rPr lang="en-US" i="1" dirty="0"/>
              <a:t>et al.</a:t>
            </a:r>
            <a:br>
              <a:rPr lang="en-US" dirty="0"/>
            </a:br>
            <a:r>
              <a:rPr lang="en-US" b="1" dirty="0"/>
              <a:t>“Online Hospital Registration and Appointment Management System (OHRAMS).”</a:t>
            </a:r>
            <a:br>
              <a:rPr lang="en-US" dirty="0"/>
            </a:br>
            <a:r>
              <a:rPr lang="en-US" dirty="0"/>
              <a:t>Angular–Spring Boot based healthcare system.</a:t>
            </a:r>
            <a:br>
              <a:rPr lang="en-US" dirty="0"/>
            </a:br>
            <a:r>
              <a:rPr lang="en-US" dirty="0"/>
              <a:t>University Research Project Report.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6975</Words>
  <Application>WPS Presentation</Application>
  <PresentationFormat>Widescreen</PresentationFormat>
  <Paragraphs>302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1_Office Theme</vt:lpstr>
      <vt:lpstr>A Proposal Defense on Online Hospital Appointment Booking System</vt:lpstr>
      <vt:lpstr>Introduction</vt:lpstr>
      <vt:lpstr>Background</vt:lpstr>
      <vt:lpstr>Literature Review (Existing Systems) </vt:lpstr>
      <vt:lpstr>Literature Review (Findings &amp; Gaps) </vt:lpstr>
      <vt:lpstr>Objectives</vt:lpstr>
      <vt:lpstr>Software Process Model</vt:lpstr>
      <vt:lpstr>PowerPoint 演示文稿</vt:lpstr>
      <vt:lpstr>PowerPoint 演示文稿</vt:lpstr>
      <vt:lpstr>Gantt Chart</vt:lpstr>
      <vt:lpstr>Use Case Diagram </vt:lpstr>
      <vt:lpstr>ER Diagram (Core Entities)</vt:lpstr>
      <vt:lpstr>ER Diagram (Advanced Features)</vt:lpstr>
      <vt:lpstr>System Flow Diagram</vt:lpstr>
      <vt:lpstr>Why Doctor Recommendation Is Needed?</vt:lpstr>
      <vt:lpstr>Content-Based Ranking (Algorithm)</vt:lpstr>
      <vt:lpstr>Data Processing ( Input-Processing-Output)</vt:lpstr>
      <vt:lpstr>Input – Data Entering the System</vt:lpstr>
      <vt:lpstr>Input – Data Entering the System</vt:lpstr>
      <vt:lpstr>Input – Data Entering the System</vt:lpstr>
      <vt:lpstr>Processing (what the system does with the data)</vt:lpstr>
      <vt:lpstr>Processing</vt:lpstr>
      <vt:lpstr>Processing</vt:lpstr>
      <vt:lpstr>Processing</vt:lpstr>
      <vt:lpstr>Output (What the System Produces)</vt:lpstr>
      <vt:lpstr>Output</vt:lpstr>
      <vt:lpstr>Output</vt:lpstr>
      <vt:lpstr>Final Outcome</vt:lpstr>
      <vt:lpstr>PowerPoint 演示文稿</vt:lpstr>
      <vt:lpstr>PowerPoint 演示文稿</vt:lpstr>
      <vt:lpstr>PowerPoint 演示文稿</vt:lpstr>
      <vt:lpstr>PowerPoint 演示文稿</vt:lpstr>
      <vt:lpstr>Testing Methodology Overview</vt:lpstr>
      <vt:lpstr>Testing Approach</vt:lpstr>
      <vt:lpstr>Unit Testing</vt:lpstr>
      <vt:lpstr>Integration Testing</vt:lpstr>
      <vt:lpstr>System Testing</vt:lpstr>
      <vt:lpstr>User Acceptance Testing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BIgyan Poudel</dc:creator>
  <cp:lastModifiedBy>Om Prakash Shrestha</cp:lastModifiedBy>
  <cp:revision>8</cp:revision>
  <dcterms:created xsi:type="dcterms:W3CDTF">2026-02-04T01:12:00Z</dcterms:created>
  <dcterms:modified xsi:type="dcterms:W3CDTF">2026-02-04T03:11:48Z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4292C9F41D57494D844DA01C83680970_12</vt:lpwstr>
  </property>
  <property fmtid="{D5CDD505-2E9C-101B-9397-08002B2CF9AE}" pid="3" name="KSOProductBuildVer">
    <vt:lpwstr>2057-12.2.0.23196</vt:lpwstr>
  </property>
</Properties>
</file>